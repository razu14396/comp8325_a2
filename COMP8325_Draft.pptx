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2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384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stating the goal: classify BODMAS samples into benign and malware categories. Mention the two models and that the deck follows the marking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data pipeline and why consistency matters. The holdout dataset was transformed using the same saved feature selector and label encoder, without fitting anything 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algorithm overview and hyperparameter selection. Mention RandomizedSearchCV style tuning and stratified cross-validation. This addresses the rubric items for algorithm overview and hyperparameter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original test results. Accuracy: Random Forest 0.9733 and XGBoost 0.9703. Explain that Random Forest had the slight overall advantage, but per-class metrics are essential due to class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holdout slide, state that no retraining was performed. Random Forest achieved 0.9950 and XGBoost 0.9781. RF did much better on smaller classes such as downloader and P2P-Worm. Mention the limitation: some rare categories had no holdout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D31"/>
          </a:solidFill>
          <a:ln w="12700">
            <a:solidFill>
              <a:srgbClr val="0B1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11430000" y="118872"/>
            <a:ext cx="256032" cy="1115568"/>
          </a:xfrm>
          <a:prstGeom prst="rect">
            <a:avLst/>
          </a:prstGeom>
          <a:solidFill>
            <a:srgbClr val="6D5DFD">
              <a:alpha val="85000"/>
            </a:srgbClr>
          </a:solidFill>
          <a:ln w="12700">
            <a:solidFill>
              <a:srgbClr val="6D5D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1768328" y="118872"/>
            <a:ext cx="164592" cy="1463040"/>
          </a:xfrm>
          <a:prstGeom prst="rect">
            <a:avLst/>
          </a:prstGeom>
          <a:solidFill>
            <a:srgbClr val="00C2D1">
              <a:alpha val="85000"/>
            </a:srgbClr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1356848" y="66568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1/5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7406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BODMAS Malware Category Classification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694944" y="30358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vs XGBoost | Task 1 test set + Task 2 holdout evaluation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94944" y="357530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COMP8325 Applications of Artificial Intelligence for Cyber Security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8805672" y="1581912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842248" y="1975104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8805672" y="269748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842248" y="3090672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8805672" y="3813048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842248" y="4206240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470636" y="3883122"/>
            <a:ext cx="8152156" cy="27737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60" dirty="0">
                <a:solidFill>
                  <a:srgbClr val="EAF2F8"/>
                </a:solidFill>
                <a:latin typeface="Aptos" pitchFamily="34" charset="0"/>
              </a:rPr>
              <a:t>Team Members: </a:t>
            </a:r>
            <a:br>
              <a:rPr lang="en-US" sz="1460" dirty="0">
                <a:solidFill>
                  <a:srgbClr val="EAF2F8"/>
                </a:solidFill>
                <a:latin typeface="Aptos" pitchFamily="34" charset="0"/>
              </a:rPr>
            </a:br>
            <a:r>
              <a:rPr lang="en-AU" dirty="0">
                <a:solidFill>
                  <a:schemeClr val="bg1"/>
                </a:solidFill>
              </a:rPr>
              <a:t>Bharath Raju Subramani – 48750506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>
                <a:solidFill>
                  <a:schemeClr val="bg1"/>
                </a:solidFill>
              </a:rPr>
              <a:t>Hemanth Uruturu – 48989401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>
                <a:solidFill>
                  <a:schemeClr val="bg1"/>
                </a:solidFill>
              </a:rPr>
              <a:t>Rubaiyet Arefin Oishi – 48849510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>
                <a:solidFill>
                  <a:schemeClr val="bg1"/>
                </a:solidFill>
              </a:rPr>
              <a:t>Abhigna Ashwath Kumar Bharadwaj – 48667420</a:t>
            </a:r>
          </a:p>
          <a:p>
            <a:pPr marL="0" indent="0">
              <a:buNone/>
            </a:pPr>
            <a:br>
              <a:rPr lang="en-US" sz="1460" dirty="0">
                <a:solidFill>
                  <a:srgbClr val="EAF2F8"/>
                </a:solidFill>
                <a:latin typeface="Aptos" pitchFamily="34" charset="0"/>
              </a:rPr>
            </a:br>
            <a:br>
              <a:rPr lang="en-US" sz="1460" dirty="0">
                <a:solidFill>
                  <a:srgbClr val="EAF2F8"/>
                </a:solidFill>
                <a:latin typeface="Aptos" pitchFamily="34" charset="0"/>
              </a:rPr>
            </a:br>
            <a:endParaRPr lang="en-US" sz="14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D31"/>
          </a:solidFill>
          <a:ln w="12700">
            <a:solidFill>
              <a:srgbClr val="0B1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11430000" y="118872"/>
            <a:ext cx="256032" cy="1115568"/>
          </a:xfrm>
          <a:prstGeom prst="rect">
            <a:avLst/>
          </a:prstGeom>
          <a:solidFill>
            <a:srgbClr val="6D5DFD">
              <a:alpha val="85000"/>
            </a:srgbClr>
          </a:solidFill>
          <a:ln w="12700">
            <a:solidFill>
              <a:srgbClr val="6D5D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1768328" y="118872"/>
            <a:ext cx="164592" cy="1463040"/>
          </a:xfrm>
          <a:prstGeom prst="rect">
            <a:avLst/>
          </a:prstGeom>
          <a:solidFill>
            <a:srgbClr val="00C2D1">
              <a:alpha val="85000"/>
            </a:srgbClr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1356848" y="66568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3383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COMP8325 GROUP PROJECT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66928" y="603504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and preprocessing pipeline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66928" y="1115568"/>
            <a:ext cx="10835640" cy="0"/>
          </a:xfrm>
          <a:prstGeom prst="line">
            <a:avLst/>
          </a:prstGeom>
          <a:noFill/>
          <a:ln w="1270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58368" y="14173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LABEL PREPARATION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713232" y="1755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C2D1"/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822960" y="184251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61872" y="177393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files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1261872" y="201168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bodmas.npz, metadata CSV and malware category CSV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13232" y="25054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C2D1"/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822960" y="2592324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61872" y="252374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labels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1261872" y="276148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SHA-256 join maps malware samples to category labels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713232" y="32552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C2D1"/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22960" y="334213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61872" y="327355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benign class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261872" y="35112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label 0 becomes benign because category CSV excludes benign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713232" y="40050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D5DFD"/>
          </a:solidFill>
          <a:ln w="12700">
            <a:solidFill>
              <a:srgbClr val="6D5D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822960" y="4091940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61872" y="402336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features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1261872" y="426110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NaN, +Inf and -Inf replaced with 0.0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713232" y="47548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D5DFD"/>
          </a:solidFill>
          <a:ln w="12700">
            <a:solidFill>
              <a:srgbClr val="6D5D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822960" y="484174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61872" y="477316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same artefacts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261872" y="50109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feature selector and label encoder reused for holdout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6446520" y="14173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DESIGN CHOICES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473952" y="1828800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10263C"/>
          </a:solidFill>
          <a:ln w="1016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6547104" y="194767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E1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2,381 → 1,501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583680" y="2340864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after VarianceThreshold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9189720" y="182880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10263C"/>
          </a:solidFill>
          <a:ln w="1016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9262872" y="1947672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F2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80:20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299448" y="234086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 train-test split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6473952" y="306324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10263C"/>
          </a:solidFill>
          <a:ln w="1016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6547104" y="3182112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5DF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583680" y="357530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label-encoded classes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8558784" y="3063240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10263C"/>
          </a:solidFill>
          <a:ln w="1016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8631936" y="318211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E1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retraining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8668512" y="3575304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holdout rule followed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6473952" y="457200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10263C"/>
          </a:solidFill>
          <a:ln w="889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Text 44"/>
          <p:cNvSpPr/>
          <p:nvPr/>
        </p:nvSpPr>
        <p:spPr>
          <a:xfrm>
            <a:off x="6693408" y="4800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matters: the same feature selector and label encoder make the Task 2 holdout evaluation directly comparable with Task 1.</a:t>
            </a:r>
            <a:endParaRPr lang="en-US" sz="1240" dirty="0"/>
          </a:p>
        </p:txBody>
      </p:sp>
      <p:sp>
        <p:nvSpPr>
          <p:cNvPr id="47" name="Text 45"/>
          <p:cNvSpPr/>
          <p:nvPr/>
        </p:nvSpPr>
        <p:spPr>
          <a:xfrm>
            <a:off x="566928" y="665683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match: Dataset Description + Data Preprocessing + Task 2 Preprocessing.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D31"/>
          </a:solidFill>
          <a:ln w="12700">
            <a:solidFill>
              <a:srgbClr val="0B1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11430000" y="118872"/>
            <a:ext cx="256032" cy="1115568"/>
          </a:xfrm>
          <a:prstGeom prst="rect">
            <a:avLst/>
          </a:prstGeom>
          <a:solidFill>
            <a:srgbClr val="6D5DFD">
              <a:alpha val="85000"/>
            </a:srgbClr>
          </a:solidFill>
          <a:ln w="12700">
            <a:solidFill>
              <a:srgbClr val="6D5D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1768328" y="118872"/>
            <a:ext cx="164592" cy="1463040"/>
          </a:xfrm>
          <a:prstGeom prst="rect">
            <a:avLst/>
          </a:prstGeom>
          <a:solidFill>
            <a:srgbClr val="00C2D1">
              <a:alpha val="85000"/>
            </a:srgbClr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1356848" y="66568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3383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COMP8325 GROUP PROJECT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66928" y="603504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and hyperparameter selection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66928" y="1115568"/>
            <a:ext cx="10835640" cy="0"/>
          </a:xfrm>
          <a:prstGeom prst="line">
            <a:avLst/>
          </a:prstGeom>
          <a:noFill/>
          <a:ln w="1270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85800" y="13533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CHOICES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85800" y="1664208"/>
            <a:ext cx="5047488" cy="4023360"/>
          </a:xfrm>
          <a:prstGeom prst="roundRect">
            <a:avLst>
              <a:gd name="adj" fmla="val 1818"/>
            </a:avLst>
          </a:prstGeom>
          <a:solidFill>
            <a:srgbClr val="10263C"/>
          </a:solidFill>
          <a:ln w="889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960120" y="18745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CE1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2395728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Chosen because it handles structured tabular features, noisy/correlated variables and multi-class classification without feature scaling.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960120" y="3273552"/>
            <a:ext cx="4160520" cy="347472"/>
          </a:xfrm>
          <a:prstGeom prst="rect">
            <a:avLst/>
          </a:prstGeom>
          <a:solidFill>
            <a:srgbClr val="00C2D1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1014984" y="3337560"/>
            <a:ext cx="1947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Hyperparameter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72384" y="3337560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17520" y="3273552"/>
            <a:ext cx="0" cy="347472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960120" y="3621024"/>
            <a:ext cx="4160520" cy="347472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1014984" y="3685032"/>
            <a:ext cx="1947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n_estimators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3072384" y="3685032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[50, 100, 200]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3017520" y="3621024"/>
            <a:ext cx="0" cy="347472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960120" y="3968496"/>
            <a:ext cx="4160520" cy="347472"/>
          </a:xfrm>
          <a:prstGeom prst="rect">
            <a:avLst/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1014984" y="4032504"/>
            <a:ext cx="1947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max_depth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3072384" y="4032504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[None, 10, 20]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3017520" y="3968496"/>
            <a:ext cx="0" cy="347472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960120" y="4315968"/>
            <a:ext cx="4160520" cy="347472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1014984" y="4379976"/>
            <a:ext cx="1947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max_features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3072384" y="4379976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sqrt / log2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3017520" y="4315968"/>
            <a:ext cx="0" cy="347472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960120" y="4663440"/>
            <a:ext cx="4160520" cy="347472"/>
          </a:xfrm>
          <a:prstGeom prst="rect">
            <a:avLst/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1014984" y="4727448"/>
            <a:ext cx="1947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072384" y="4727448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3-fold stratified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3017520" y="4663440"/>
            <a:ext cx="0" cy="347472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6400800" y="1664208"/>
            <a:ext cx="5047488" cy="4023360"/>
          </a:xfrm>
          <a:prstGeom prst="roundRect">
            <a:avLst>
              <a:gd name="adj" fmla="val 1818"/>
            </a:avLst>
          </a:prstGeom>
          <a:solidFill>
            <a:srgbClr val="10263C"/>
          </a:solidFill>
          <a:ln w="889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6675120" y="18745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F2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XGBoost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675120" y="2395728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Chosen because gradient boosting improves errors iteratively and regularisation helps reduce overfitting on high-dimensional tabular data.</a:t>
            </a:r>
            <a:endParaRPr lang="en-US" sz="1330" dirty="0"/>
          </a:p>
        </p:txBody>
      </p:sp>
      <p:sp>
        <p:nvSpPr>
          <p:cNvPr id="38" name="Shape 36"/>
          <p:cNvSpPr/>
          <p:nvPr/>
        </p:nvSpPr>
        <p:spPr>
          <a:xfrm>
            <a:off x="6675120" y="3127248"/>
            <a:ext cx="4160520" cy="310896"/>
          </a:xfrm>
          <a:prstGeom prst="rect">
            <a:avLst/>
          </a:prstGeom>
          <a:solidFill>
            <a:srgbClr val="B8F21E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6729984" y="3191256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Hyperparameter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787384" y="3191256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732520" y="3127248"/>
            <a:ext cx="0" cy="310896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Shape 40"/>
          <p:cNvSpPr/>
          <p:nvPr/>
        </p:nvSpPr>
        <p:spPr>
          <a:xfrm>
            <a:off x="6675120" y="3438144"/>
            <a:ext cx="4160520" cy="310896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6729984" y="3502152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n_estimators</a:t>
            </a:r>
            <a:endParaRPr lang="en-US" sz="930" dirty="0"/>
          </a:p>
        </p:txBody>
      </p:sp>
      <p:sp>
        <p:nvSpPr>
          <p:cNvPr id="44" name="Text 42"/>
          <p:cNvSpPr/>
          <p:nvPr/>
        </p:nvSpPr>
        <p:spPr>
          <a:xfrm>
            <a:off x="8787384" y="350215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[50, 100]</a:t>
            </a:r>
            <a:endParaRPr lang="en-US" sz="930" dirty="0"/>
          </a:p>
        </p:txBody>
      </p:sp>
      <p:sp>
        <p:nvSpPr>
          <p:cNvPr id="45" name="Shape 43"/>
          <p:cNvSpPr/>
          <p:nvPr/>
        </p:nvSpPr>
        <p:spPr>
          <a:xfrm>
            <a:off x="8732520" y="3438144"/>
            <a:ext cx="0" cy="310896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Shape 44"/>
          <p:cNvSpPr/>
          <p:nvPr/>
        </p:nvSpPr>
        <p:spPr>
          <a:xfrm>
            <a:off x="6675120" y="3749040"/>
            <a:ext cx="4160520" cy="310896"/>
          </a:xfrm>
          <a:prstGeom prst="rect">
            <a:avLst/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6729984" y="3813048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max_depth</a:t>
            </a:r>
            <a:endParaRPr lang="en-US" sz="930" dirty="0"/>
          </a:p>
        </p:txBody>
      </p:sp>
      <p:sp>
        <p:nvSpPr>
          <p:cNvPr id="48" name="Text 46"/>
          <p:cNvSpPr/>
          <p:nvPr/>
        </p:nvSpPr>
        <p:spPr>
          <a:xfrm>
            <a:off x="8787384" y="381304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[3, 4]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8732520" y="3749040"/>
            <a:ext cx="0" cy="310896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Shape 48"/>
          <p:cNvSpPr/>
          <p:nvPr/>
        </p:nvSpPr>
        <p:spPr>
          <a:xfrm>
            <a:off x="6675120" y="4059936"/>
            <a:ext cx="4160520" cy="310896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Text 49"/>
          <p:cNvSpPr/>
          <p:nvPr/>
        </p:nvSpPr>
        <p:spPr>
          <a:xfrm>
            <a:off x="6729984" y="4123944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learning_rate</a:t>
            </a:r>
            <a:endParaRPr lang="en-US" sz="930" dirty="0"/>
          </a:p>
        </p:txBody>
      </p:sp>
      <p:sp>
        <p:nvSpPr>
          <p:cNvPr id="52" name="Text 50"/>
          <p:cNvSpPr/>
          <p:nvPr/>
        </p:nvSpPr>
        <p:spPr>
          <a:xfrm>
            <a:off x="8787384" y="4123944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[0.1, 0.2]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8732520" y="4059936"/>
            <a:ext cx="0" cy="310896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Shape 52"/>
          <p:cNvSpPr/>
          <p:nvPr/>
        </p:nvSpPr>
        <p:spPr>
          <a:xfrm>
            <a:off x="6675120" y="4370832"/>
            <a:ext cx="4160520" cy="310896"/>
          </a:xfrm>
          <a:prstGeom prst="rect">
            <a:avLst/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5" name="Text 53"/>
          <p:cNvSpPr/>
          <p:nvPr/>
        </p:nvSpPr>
        <p:spPr>
          <a:xfrm>
            <a:off x="6729984" y="4434840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tree_method</a:t>
            </a:r>
            <a:endParaRPr lang="en-US" sz="930" dirty="0"/>
          </a:p>
        </p:txBody>
      </p:sp>
      <p:sp>
        <p:nvSpPr>
          <p:cNvPr id="56" name="Text 54"/>
          <p:cNvSpPr/>
          <p:nvPr/>
        </p:nvSpPr>
        <p:spPr>
          <a:xfrm>
            <a:off x="8787384" y="4434840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</a:t>
            </a:r>
            <a:endParaRPr lang="en-US" sz="930" dirty="0"/>
          </a:p>
        </p:txBody>
      </p:sp>
      <p:sp>
        <p:nvSpPr>
          <p:cNvPr id="57" name="Shape 55"/>
          <p:cNvSpPr/>
          <p:nvPr/>
        </p:nvSpPr>
        <p:spPr>
          <a:xfrm>
            <a:off x="8732520" y="4370832"/>
            <a:ext cx="0" cy="310896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Shape 56"/>
          <p:cNvSpPr/>
          <p:nvPr/>
        </p:nvSpPr>
        <p:spPr>
          <a:xfrm>
            <a:off x="6675120" y="4681728"/>
            <a:ext cx="4160520" cy="310896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9" name="Text 57"/>
          <p:cNvSpPr/>
          <p:nvPr/>
        </p:nvSpPr>
        <p:spPr>
          <a:xfrm>
            <a:off x="6729984" y="4745736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</a:t>
            </a:r>
            <a:endParaRPr lang="en-US" sz="930" dirty="0"/>
          </a:p>
        </p:txBody>
      </p:sp>
      <p:sp>
        <p:nvSpPr>
          <p:cNvPr id="60" name="Text 58"/>
          <p:cNvSpPr/>
          <p:nvPr/>
        </p:nvSpPr>
        <p:spPr>
          <a:xfrm>
            <a:off x="8787384" y="4745736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2-fold stratified</a:t>
            </a:r>
            <a:endParaRPr lang="en-US" sz="930" dirty="0"/>
          </a:p>
        </p:txBody>
      </p:sp>
      <p:sp>
        <p:nvSpPr>
          <p:cNvPr id="61" name="Shape 59"/>
          <p:cNvSpPr/>
          <p:nvPr/>
        </p:nvSpPr>
        <p:spPr>
          <a:xfrm>
            <a:off x="8732520" y="4681728"/>
            <a:ext cx="0" cy="310896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2" name="Shape 60"/>
          <p:cNvSpPr/>
          <p:nvPr/>
        </p:nvSpPr>
        <p:spPr>
          <a:xfrm>
            <a:off x="4480560" y="597103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Text 61"/>
          <p:cNvSpPr/>
          <p:nvPr/>
        </p:nvSpPr>
        <p:spPr>
          <a:xfrm>
            <a:off x="4544568" y="6035040"/>
            <a:ext cx="1289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Randomised search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6080760" y="5971032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5" name="Text 63"/>
          <p:cNvSpPr/>
          <p:nvPr/>
        </p:nvSpPr>
        <p:spPr>
          <a:xfrm>
            <a:off x="6144768" y="6035040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B8F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random_state = 42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566928" y="665683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match: Models and Training Methodology + Appendix 1 Tables 3–4.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D31"/>
          </a:solidFill>
          <a:ln w="12700">
            <a:solidFill>
              <a:srgbClr val="0B1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11430000" y="118872"/>
            <a:ext cx="256032" cy="1115568"/>
          </a:xfrm>
          <a:prstGeom prst="rect">
            <a:avLst/>
          </a:prstGeom>
          <a:solidFill>
            <a:srgbClr val="6D5DFD">
              <a:alpha val="85000"/>
            </a:srgbClr>
          </a:solidFill>
          <a:ln w="12700">
            <a:solidFill>
              <a:srgbClr val="6D5D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1768328" y="118872"/>
            <a:ext cx="164592" cy="1463040"/>
          </a:xfrm>
          <a:prstGeom prst="rect">
            <a:avLst/>
          </a:prstGeom>
          <a:solidFill>
            <a:srgbClr val="00C2D1">
              <a:alpha val="85000"/>
            </a:srgbClr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1356848" y="66568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3383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COMP8325 GROUP PROJECT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66928" y="603504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1 results on original test set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66928" y="1115568"/>
            <a:ext cx="10835640" cy="0"/>
          </a:xfrm>
          <a:prstGeom prst="line">
            <a:avLst/>
          </a:prstGeom>
          <a:noFill/>
          <a:ln w="1270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58368" y="13716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ACCURACY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713232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2377440" y="1828800"/>
            <a:ext cx="3017520" cy="292608"/>
          </a:xfrm>
          <a:prstGeom prst="roundRect">
            <a:avLst>
              <a:gd name="adj" fmla="val 12500"/>
            </a:avLst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2377440" y="1828800"/>
            <a:ext cx="1674724" cy="292608"/>
          </a:xfrm>
          <a:prstGeom prst="roundRect">
            <a:avLst>
              <a:gd name="adj" fmla="val 12500"/>
            </a:avLst>
          </a:prstGeom>
          <a:solidFill>
            <a:srgbClr val="5CE1E6"/>
          </a:solidFill>
          <a:ln w="12700">
            <a:solidFill>
              <a:srgbClr val="5CE1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532120" y="18790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0.9733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3232" y="25146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2377440" y="2487168"/>
            <a:ext cx="3017520" cy="292608"/>
          </a:xfrm>
          <a:prstGeom prst="roundRect">
            <a:avLst>
              <a:gd name="adj" fmla="val 12500"/>
            </a:avLst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2377440" y="2487168"/>
            <a:ext cx="1523848" cy="292608"/>
          </a:xfrm>
          <a:prstGeom prst="roundRect">
            <a:avLst>
              <a:gd name="adj" fmla="val 12500"/>
            </a:avLst>
          </a:prstGeom>
          <a:solidFill>
            <a:srgbClr val="B8F21E"/>
          </a:solidFill>
          <a:ln w="12700">
            <a:solidFill>
              <a:srgbClr val="B8F2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5532120" y="25374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0.9703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3232" y="3401568"/>
            <a:ext cx="5193792" cy="987552"/>
          </a:xfrm>
          <a:prstGeom prst="roundRect">
            <a:avLst>
              <a:gd name="adj" fmla="val 7407"/>
            </a:avLst>
          </a:prstGeom>
          <a:solidFill>
            <a:srgbClr val="10263C"/>
          </a:solidFill>
          <a:ln w="889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932688" y="3666744"/>
            <a:ext cx="4736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slightly outperformed XGBoost overall by 0.0030. Because the dataset is imbalanced, accuracy was supported with per-class TPR and FPR.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46520" y="13716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PER-CLASS TPR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446520" y="1783080"/>
            <a:ext cx="4023360" cy="384048"/>
          </a:xfrm>
          <a:prstGeom prst="rect">
            <a:avLst/>
          </a:prstGeom>
          <a:solidFill>
            <a:srgbClr val="6D5DFD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6501384" y="1847088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38744" y="184708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83880" y="1783080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9381744" y="184708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326880" y="1783080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6446520" y="2167128"/>
            <a:ext cx="4023360" cy="384048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6501384" y="2231136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Benign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8238744" y="2231136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0.9998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8183880" y="2167128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9381744" y="2231136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0.9964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9326880" y="2167128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6446520" y="2551176"/>
            <a:ext cx="4023360" cy="384048"/>
          </a:xfrm>
          <a:prstGeom prst="rect">
            <a:avLst/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6501384" y="261518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Trojan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8238744" y="2615184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0.9328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8183880" y="2551176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9381744" y="2615184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0.9271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9326880" y="2551176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Shape 39"/>
          <p:cNvSpPr/>
          <p:nvPr/>
        </p:nvSpPr>
        <p:spPr>
          <a:xfrm>
            <a:off x="6446520" y="2935224"/>
            <a:ext cx="4023360" cy="384048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6501384" y="2999232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Worm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8238744" y="2999232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0.9518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8183880" y="2935224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9381744" y="2999232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0.9680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9326880" y="2935224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Shape 45"/>
          <p:cNvSpPr/>
          <p:nvPr/>
        </p:nvSpPr>
        <p:spPr>
          <a:xfrm>
            <a:off x="6446520" y="3319272"/>
            <a:ext cx="4023360" cy="384048"/>
          </a:xfrm>
          <a:prstGeom prst="rect">
            <a:avLst/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Text 46"/>
          <p:cNvSpPr/>
          <p:nvPr/>
        </p:nvSpPr>
        <p:spPr>
          <a:xfrm>
            <a:off x="6501384" y="3383280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Backdoor</a:t>
            </a:r>
            <a:endParaRPr lang="en-US" sz="930" dirty="0"/>
          </a:p>
        </p:txBody>
      </p:sp>
      <p:sp>
        <p:nvSpPr>
          <p:cNvPr id="49" name="Text 47"/>
          <p:cNvSpPr/>
          <p:nvPr/>
        </p:nvSpPr>
        <p:spPr>
          <a:xfrm>
            <a:off x="8238744" y="3383280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0.9707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8183880" y="3319272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Text 49"/>
          <p:cNvSpPr/>
          <p:nvPr/>
        </p:nvSpPr>
        <p:spPr>
          <a:xfrm>
            <a:off x="9381744" y="3383280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0.9686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9326880" y="3319272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Shape 51"/>
          <p:cNvSpPr/>
          <p:nvPr/>
        </p:nvSpPr>
        <p:spPr>
          <a:xfrm>
            <a:off x="6446520" y="3703320"/>
            <a:ext cx="4023360" cy="384048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Text 52"/>
          <p:cNvSpPr/>
          <p:nvPr/>
        </p:nvSpPr>
        <p:spPr>
          <a:xfrm>
            <a:off x="6501384" y="3767328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Dropper</a:t>
            </a:r>
            <a:endParaRPr lang="en-US" sz="930" dirty="0"/>
          </a:p>
        </p:txBody>
      </p:sp>
      <p:sp>
        <p:nvSpPr>
          <p:cNvPr id="55" name="Text 53"/>
          <p:cNvSpPr/>
          <p:nvPr/>
        </p:nvSpPr>
        <p:spPr>
          <a:xfrm>
            <a:off x="8238744" y="376732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0.7692</a:t>
            </a:r>
            <a:endParaRPr lang="en-US" sz="930" dirty="0"/>
          </a:p>
        </p:txBody>
      </p:sp>
      <p:sp>
        <p:nvSpPr>
          <p:cNvPr id="56" name="Shape 54"/>
          <p:cNvSpPr/>
          <p:nvPr/>
        </p:nvSpPr>
        <p:spPr>
          <a:xfrm>
            <a:off x="8183880" y="3703320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Text 55"/>
          <p:cNvSpPr/>
          <p:nvPr/>
        </p:nvSpPr>
        <p:spPr>
          <a:xfrm>
            <a:off x="9381744" y="376732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0.6853</a:t>
            </a:r>
            <a:endParaRPr lang="en-US" sz="930" dirty="0"/>
          </a:p>
        </p:txBody>
      </p:sp>
      <p:sp>
        <p:nvSpPr>
          <p:cNvPr id="58" name="Shape 56"/>
          <p:cNvSpPr/>
          <p:nvPr/>
        </p:nvSpPr>
        <p:spPr>
          <a:xfrm>
            <a:off x="9326880" y="3703320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9" name="Shape 57"/>
          <p:cNvSpPr/>
          <p:nvPr/>
        </p:nvSpPr>
        <p:spPr>
          <a:xfrm>
            <a:off x="6446520" y="4434840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10263C"/>
          </a:solidFill>
          <a:ln w="889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0" name="Text 58"/>
          <p:cNvSpPr/>
          <p:nvPr/>
        </p:nvSpPr>
        <p:spPr>
          <a:xfrm>
            <a:off x="6647688" y="4663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both models were strong on majority classes, while minority classes were less stable because of low support.</a:t>
            </a:r>
            <a:endParaRPr lang="en-US" sz="1220" dirty="0"/>
          </a:p>
        </p:txBody>
      </p:sp>
      <p:sp>
        <p:nvSpPr>
          <p:cNvPr id="61" name="Text 59"/>
          <p:cNvSpPr/>
          <p:nvPr/>
        </p:nvSpPr>
        <p:spPr>
          <a:xfrm>
            <a:off x="566928" y="665683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match: Evaluation + Results + Appendix 1 Tables 5–7.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D31"/>
          </a:solidFill>
          <a:ln w="12700">
            <a:solidFill>
              <a:srgbClr val="0B1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11430000" y="118872"/>
            <a:ext cx="256032" cy="1115568"/>
          </a:xfrm>
          <a:prstGeom prst="rect">
            <a:avLst/>
          </a:prstGeom>
          <a:solidFill>
            <a:srgbClr val="6D5DFD">
              <a:alpha val="85000"/>
            </a:srgbClr>
          </a:solidFill>
          <a:ln w="12700">
            <a:solidFill>
              <a:srgbClr val="6D5D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1768328" y="118872"/>
            <a:ext cx="164592" cy="1463040"/>
          </a:xfrm>
          <a:prstGeom prst="rect">
            <a:avLst/>
          </a:prstGeom>
          <a:solidFill>
            <a:srgbClr val="00C2D1">
              <a:alpha val="85000"/>
            </a:srgbClr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1356848" y="66568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3383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COMP8325 GROUP PROJECT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66928" y="603504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2 holdout results and reflection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66928" y="1115568"/>
            <a:ext cx="10835640" cy="0"/>
          </a:xfrm>
          <a:prstGeom prst="line">
            <a:avLst/>
          </a:prstGeom>
          <a:noFill/>
          <a:ln w="1270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58368" y="13533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HOLDOUT ACCURACY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713232" y="181965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2377440" y="1792224"/>
            <a:ext cx="3017520" cy="292608"/>
          </a:xfrm>
          <a:prstGeom prst="roundRect">
            <a:avLst>
              <a:gd name="adj" fmla="val 12500"/>
            </a:avLst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2377440" y="1792224"/>
            <a:ext cx="2766060" cy="292608"/>
          </a:xfrm>
          <a:prstGeom prst="roundRect">
            <a:avLst>
              <a:gd name="adj" fmla="val 12500"/>
            </a:avLst>
          </a:prstGeom>
          <a:solidFill>
            <a:srgbClr val="5CE1E6"/>
          </a:solidFill>
          <a:ln w="12700">
            <a:solidFill>
              <a:srgbClr val="5CE1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532120" y="18425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0.9950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3232" y="247802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2377440" y="2450592"/>
            <a:ext cx="3017520" cy="292608"/>
          </a:xfrm>
          <a:prstGeom prst="roundRect">
            <a:avLst>
              <a:gd name="adj" fmla="val 12500"/>
            </a:avLst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2377440" y="2450592"/>
            <a:ext cx="1916125" cy="292608"/>
          </a:xfrm>
          <a:prstGeom prst="roundRect">
            <a:avLst>
              <a:gd name="adj" fmla="val 12500"/>
            </a:avLst>
          </a:prstGeom>
          <a:solidFill>
            <a:srgbClr val="B8F21E"/>
          </a:solidFill>
          <a:ln w="12700">
            <a:solidFill>
              <a:srgbClr val="B8F2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5532120" y="250088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0.9781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9808" y="3246120"/>
            <a:ext cx="2084832" cy="310896"/>
          </a:xfrm>
          <a:prstGeom prst="roundRect">
            <a:avLst>
              <a:gd name="adj" fmla="val 23529"/>
            </a:avLst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13816" y="3310128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 → Task 2: RF +0.0217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999232" y="3246120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3063240" y="3310128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B8F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 +0.0078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446520" y="135331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HOLDOUT PER-CLASS TPR EXAMPLES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446520" y="1783080"/>
            <a:ext cx="4023360" cy="384048"/>
          </a:xfrm>
          <a:prstGeom prst="rect">
            <a:avLst/>
          </a:prstGeom>
          <a:solidFill>
            <a:srgbClr val="6D5DFD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6501384" y="1847088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38744" y="184708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83880" y="1783080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9381744" y="184708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326880" y="1783080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6446520" y="2167128"/>
            <a:ext cx="4023360" cy="384048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6501384" y="2231136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Benign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8238744" y="2231136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1.0000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8183880" y="2167128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9381744" y="2231136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0.9996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9326880" y="2167128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Shape 35"/>
          <p:cNvSpPr/>
          <p:nvPr/>
        </p:nvSpPr>
        <p:spPr>
          <a:xfrm>
            <a:off x="6446520" y="2551176"/>
            <a:ext cx="4023360" cy="384048"/>
          </a:xfrm>
          <a:prstGeom prst="rect">
            <a:avLst/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6501384" y="261518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Trojan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8238744" y="2615184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0.9880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8183880" y="2551176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9381744" y="2615184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0.9259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9326880" y="2551176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Shape 41"/>
          <p:cNvSpPr/>
          <p:nvPr/>
        </p:nvSpPr>
        <p:spPr>
          <a:xfrm>
            <a:off x="6446520" y="2935224"/>
            <a:ext cx="4023360" cy="384048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42"/>
          <p:cNvSpPr/>
          <p:nvPr/>
        </p:nvSpPr>
        <p:spPr>
          <a:xfrm>
            <a:off x="6501384" y="2999232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Worm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8238744" y="2999232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0.9899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8183880" y="2935224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9381744" y="2999232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0.9868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9326880" y="2935224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Shape 47"/>
          <p:cNvSpPr/>
          <p:nvPr/>
        </p:nvSpPr>
        <p:spPr>
          <a:xfrm>
            <a:off x="6446520" y="3319272"/>
            <a:ext cx="4023360" cy="384048"/>
          </a:xfrm>
          <a:prstGeom prst="rect">
            <a:avLst/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Text 48"/>
          <p:cNvSpPr/>
          <p:nvPr/>
        </p:nvSpPr>
        <p:spPr>
          <a:xfrm>
            <a:off x="6501384" y="3383280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Downloader</a:t>
            </a:r>
            <a:endParaRPr lang="en-US" sz="930" dirty="0"/>
          </a:p>
        </p:txBody>
      </p:sp>
      <p:sp>
        <p:nvSpPr>
          <p:cNvPr id="51" name="Text 49"/>
          <p:cNvSpPr/>
          <p:nvPr/>
        </p:nvSpPr>
        <p:spPr>
          <a:xfrm>
            <a:off x="8238744" y="3383280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0.9455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8183880" y="3319272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Text 51"/>
          <p:cNvSpPr/>
          <p:nvPr/>
        </p:nvSpPr>
        <p:spPr>
          <a:xfrm>
            <a:off x="9381744" y="3383280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0.6364</a:t>
            </a:r>
            <a:endParaRPr lang="en-US" sz="930" dirty="0"/>
          </a:p>
        </p:txBody>
      </p:sp>
      <p:sp>
        <p:nvSpPr>
          <p:cNvPr id="54" name="Shape 52"/>
          <p:cNvSpPr/>
          <p:nvPr/>
        </p:nvSpPr>
        <p:spPr>
          <a:xfrm>
            <a:off x="9326880" y="3319272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5" name="Shape 53"/>
          <p:cNvSpPr/>
          <p:nvPr/>
        </p:nvSpPr>
        <p:spPr>
          <a:xfrm>
            <a:off x="6446520" y="3703320"/>
            <a:ext cx="4023360" cy="384048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6" name="Text 54"/>
          <p:cNvSpPr/>
          <p:nvPr/>
        </p:nvSpPr>
        <p:spPr>
          <a:xfrm>
            <a:off x="6501384" y="3767328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P2P-Worm</a:t>
            </a:r>
            <a:endParaRPr lang="en-US" sz="930" dirty="0"/>
          </a:p>
        </p:txBody>
      </p:sp>
      <p:sp>
        <p:nvSpPr>
          <p:cNvPr id="57" name="Text 55"/>
          <p:cNvSpPr/>
          <p:nvPr/>
        </p:nvSpPr>
        <p:spPr>
          <a:xfrm>
            <a:off x="8238744" y="376732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0.8462</a:t>
            </a:r>
            <a:endParaRPr lang="en-US" sz="930" dirty="0"/>
          </a:p>
        </p:txBody>
      </p:sp>
      <p:sp>
        <p:nvSpPr>
          <p:cNvPr id="58" name="Shape 56"/>
          <p:cNvSpPr/>
          <p:nvPr/>
        </p:nvSpPr>
        <p:spPr>
          <a:xfrm>
            <a:off x="8183880" y="3703320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9" name="Text 57"/>
          <p:cNvSpPr/>
          <p:nvPr/>
        </p:nvSpPr>
        <p:spPr>
          <a:xfrm>
            <a:off x="9381744" y="376732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0.1538</a:t>
            </a:r>
            <a:endParaRPr lang="en-US" sz="930" dirty="0"/>
          </a:p>
        </p:txBody>
      </p:sp>
      <p:sp>
        <p:nvSpPr>
          <p:cNvPr id="60" name="Shape 58"/>
          <p:cNvSpPr/>
          <p:nvPr/>
        </p:nvSpPr>
        <p:spPr>
          <a:xfrm>
            <a:off x="9326880" y="3703320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1" name="Shape 59"/>
          <p:cNvSpPr/>
          <p:nvPr/>
        </p:nvSpPr>
        <p:spPr>
          <a:xfrm>
            <a:off x="713232" y="4069080"/>
            <a:ext cx="5193792" cy="1353312"/>
          </a:xfrm>
          <a:prstGeom prst="roundRect">
            <a:avLst>
              <a:gd name="adj" fmla="val 5405"/>
            </a:avLst>
          </a:prstGeom>
          <a:solidFill>
            <a:srgbClr val="10263C"/>
          </a:solidFill>
          <a:ln w="889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2" name="Text 60"/>
          <p:cNvSpPr/>
          <p:nvPr/>
        </p:nvSpPr>
        <p:spPr>
          <a:xfrm>
            <a:off x="932688" y="4315968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retraining was performed. Saved models, feature selector and label encoder were applied directly to the holdout set.</a:t>
            </a:r>
            <a:endParaRPr lang="en-US" sz="1210" dirty="0"/>
          </a:p>
        </p:txBody>
      </p:sp>
      <p:sp>
        <p:nvSpPr>
          <p:cNvPr id="63" name="Text 61"/>
          <p:cNvSpPr/>
          <p:nvPr/>
        </p:nvSpPr>
        <p:spPr>
          <a:xfrm>
            <a:off x="932688" y="4828032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Conclusion: Random Forest generalised best with higher accuracy, stronger minority-class TPR and consistently low FPR.</a:t>
            </a:r>
            <a:endParaRPr lang="en-US" sz="1210" dirty="0"/>
          </a:p>
        </p:txBody>
      </p:sp>
      <p:sp>
        <p:nvSpPr>
          <p:cNvPr id="64" name="Shape 62"/>
          <p:cNvSpPr/>
          <p:nvPr/>
        </p:nvSpPr>
        <p:spPr>
          <a:xfrm>
            <a:off x="6446520" y="4434840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10263C"/>
          </a:solidFill>
          <a:ln w="889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5" name="Text 63"/>
          <p:cNvSpPr/>
          <p:nvPr/>
        </p:nvSpPr>
        <p:spPr>
          <a:xfrm>
            <a:off x="6647688" y="4663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Reflection: virus, exploit and rootkit had zero holdout samples, so high accuracy should be interpreted with class imbalance in mind.</a:t>
            </a:r>
            <a:endParaRPr lang="en-US" sz="1220" dirty="0"/>
          </a:p>
        </p:txBody>
      </p:sp>
      <p:sp>
        <p:nvSpPr>
          <p:cNvPr id="66" name="Text 64"/>
          <p:cNvSpPr/>
          <p:nvPr/>
        </p:nvSpPr>
        <p:spPr>
          <a:xfrm>
            <a:off x="566928" y="665683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match: Task 2 Evaluation Results + Appendix 2 Tables 1–4.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715</Words>
  <Application>Microsoft Office PowerPoint</Application>
  <PresentationFormat>Widescreen</PresentationFormat>
  <Paragraphs>142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Macquarie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BODMAS Malware Category Classification</dc:title>
  <dc:subject>COMP8325 BODMAS Malware Classification</dc:subject>
  <dc:creator>OpenAI</dc:creator>
  <cp:lastModifiedBy>Bharath Raju Subramani</cp:lastModifiedBy>
  <cp:revision>3</cp:revision>
  <dcterms:created xsi:type="dcterms:W3CDTF">2026-05-29T09:45:27Z</dcterms:created>
  <dcterms:modified xsi:type="dcterms:W3CDTF">2026-05-29T12:15:16Z</dcterms:modified>
</cp:coreProperties>
</file>